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E4178-E5ED-4346-84D0-44C2BFE9866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6D4EC-AE27-4F17-BF1F-B3563285DA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649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기능 </a:t>
            </a:r>
            <a:r>
              <a:rPr lang="en-US" altLang="ko-KR" dirty="0"/>
              <a:t>– </a:t>
            </a:r>
            <a:r>
              <a:rPr lang="ko-KR" altLang="en-US" dirty="0"/>
              <a:t>사용자측면</a:t>
            </a:r>
            <a:r>
              <a:rPr lang="en-US" altLang="ko-KR" dirty="0"/>
              <a:t> (</a:t>
            </a:r>
            <a:r>
              <a:rPr lang="ko-KR" altLang="en-US" dirty="0"/>
              <a:t>환경안전팀에 발표임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6D4EC-AE27-4F17-BF1F-B3563285DA9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49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4DFBF-9C14-7F5C-3061-B7B251B92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4C032A-453C-968B-828E-6835DDA3F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580DEF-A716-CEF0-9B8F-65953C31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B9DD64-09C1-8197-A1B3-C4BECA66A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C9D872-D8D0-F7DD-A65A-BA6D0586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650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29167C-1C5F-08BB-DCD8-E8628B9A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78EF27-C286-67D9-AC36-B29DF7ED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3AB1DD-55DD-1BFE-3D59-9FC1B33D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7A1E62-0AE4-C37C-5D28-3F91A2D66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5D161-9092-C9F1-48AD-6DDF4E8A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642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BF868-1CA7-87E0-FA6B-D10A3516D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D69A5D-7695-BDEE-7ECC-85FEC4497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BEAAC2-CFA3-FD47-7C65-22688003C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293A52-A90F-81B2-1CA1-8246332D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261470-B436-FCB4-B96F-9A8C58E17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61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B1AB7-34BD-0319-1D2C-C76C2BDA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9047EE-09E6-C913-D613-6FF359781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A67218-0D60-DE86-8A09-6C3F8AAE5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D000B6-7629-E59C-CDAC-50AD5D096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D0EF9-FD1B-485A-9DE7-C712DA3B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8FBD85-2EC0-5EB8-D236-BEDE13CE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78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7DDCD-6B92-F765-695B-FDA55014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4B167C-A5F1-551F-399E-6A413B6E6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7FDA84-746C-3D3C-0497-6B0C090FF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FBC887-CED9-2300-EE33-FC0538CB2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DB4581-C50C-7918-846D-8BF976926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E685F9-F76E-9AE9-7467-6FE86802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5902FB-6C64-801E-0595-909A50FF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B51AE2-7E8C-EBF4-AE47-F3C2EAD1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775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10509-2614-D7C3-888B-7AB66DDF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522D0F-5F5E-1D0B-3A8C-1F24A92E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B7B1FA-E8CF-5A67-8064-7C6D2274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4B7C6A-1649-7A27-2041-DF4D726E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03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4A9BB2-F9FA-5FA5-F8D6-BA5C95D33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2B1F29-953C-6429-C53A-7495015D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163679-384D-617E-02A0-47572233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9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DF625-2E87-AE5D-ABE6-06696E972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E1F66B-0E37-7AAF-CA72-3A18260BB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2AEEBF-DB77-B9D4-8ECB-0A03DB7F1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48B067-0928-D933-12F0-AFB82910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831488-6116-0A10-36FE-230505F4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E6DB0F-D7DE-3B21-C441-F5226B75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81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993F5-A56D-EBF6-62DF-59253137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53B0AC-2AD2-B67A-EF87-381917797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6C2C17-9DF8-9A83-63F7-50B8A6EC1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BDDAC7-4552-9797-B43B-5D28310F3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574025-4411-8018-3FE1-CB73258D2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302A34-0F8C-0838-7BA8-827ED951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0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F7352-25C3-9B21-B0D7-E5DF7D70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A664C5-5233-45EE-BA62-7B2CDCB07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33952-42E0-9747-5DC1-08346FF1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2B24DD-156F-D577-9DE0-9A99A461A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39E267-67AE-0473-4FBC-CE6A05E2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591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77014D-7428-2D39-19E0-790C2AF69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44CE28-64D0-74FB-431E-AD33B07FC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795D3-C7BE-4AA8-3821-F6AB60E9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2FF6C0-693A-7394-87A9-4CE342495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694BE3-71BA-5547-E5BC-87B88DCD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07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FEEAF0-2B32-6825-E267-E5260A02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97B302-D7B8-9402-DAFF-5F5EAE19B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176537-C9A3-17B5-E31D-AF6AA0892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5CD81D-6374-4C12-B804-B0A49C28E9D8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A9A653-6BD6-54DF-6F41-0EA9F3214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07CE61-7F10-A874-5AD0-F68161A10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9BE68-E1C6-4F52-A1F5-A0C45C1B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51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AC5E6EC-43A7-6886-5AD2-8BC3AA30F661}"/>
              </a:ext>
            </a:extLst>
          </p:cNvPr>
          <p:cNvSpPr/>
          <p:nvPr/>
        </p:nvSpPr>
        <p:spPr>
          <a:xfrm>
            <a:off x="227065" y="949849"/>
            <a:ext cx="3412123" cy="32647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5FAC8-98E9-CBCB-7A5B-8654A3378188}"/>
              </a:ext>
            </a:extLst>
          </p:cNvPr>
          <p:cNvSpPr txBox="1"/>
          <p:nvPr/>
        </p:nvSpPr>
        <p:spPr>
          <a:xfrm>
            <a:off x="4486340" y="59147"/>
            <a:ext cx="336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FMS </a:t>
            </a:r>
            <a:r>
              <a:rPr lang="ko-KR" altLang="en-US" sz="3200" b="1" dirty="0"/>
              <a:t>고도화 방안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B16F6E-FBF9-B72E-E754-625F96081249}"/>
              </a:ext>
            </a:extLst>
          </p:cNvPr>
          <p:cNvSpPr txBox="1"/>
          <p:nvPr/>
        </p:nvSpPr>
        <p:spPr>
          <a:xfrm>
            <a:off x="383671" y="1497637"/>
            <a:ext cx="318619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현재 설비 운영에 필요한 핵심 정보는 도면</a:t>
            </a:r>
            <a:r>
              <a:rPr lang="en-US" altLang="ko-KR" sz="1400" dirty="0"/>
              <a:t>(DWG/PDF)</a:t>
            </a:r>
            <a:r>
              <a:rPr lang="ko-KR" altLang="en-US" sz="1400" dirty="0"/>
              <a:t>에 분산되어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실제 활용 시 </a:t>
            </a:r>
            <a:r>
              <a:rPr lang="en-US" altLang="ko-KR" sz="1400" dirty="0"/>
              <a:t>AutoCAD </a:t>
            </a:r>
            <a:r>
              <a:rPr lang="ko-KR" altLang="en-US" sz="1400" dirty="0"/>
              <a:t>확인 또는 숙련 인력 의존이 불가피한 상황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이에 따라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설비 정보 검색 비효율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장애 영향 분석 어려움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운영 지식의 인적 의존 및 소실</a:t>
            </a:r>
          </a:p>
          <a:p>
            <a:endParaRPr lang="ko-KR" altLang="en-US" sz="1400" dirty="0"/>
          </a:p>
          <a:p>
            <a:r>
              <a:rPr lang="ko-KR" altLang="en-US" sz="1400" dirty="0"/>
              <a:t>문제가 지속적으로 발생</a:t>
            </a:r>
            <a:endParaRPr lang="en-US" altLang="ko-K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FC2C-6881-15FD-B564-BF7519048607}"/>
              </a:ext>
            </a:extLst>
          </p:cNvPr>
          <p:cNvSpPr txBox="1"/>
          <p:nvPr/>
        </p:nvSpPr>
        <p:spPr>
          <a:xfrm>
            <a:off x="405395" y="5008218"/>
            <a:ext cx="31506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FMS 내 </a:t>
            </a:r>
            <a:r>
              <a:rPr lang="ko-KR" altLang="en-US" sz="1400" b="1" dirty="0"/>
              <a:t>도면 관리 및 지식화 기능</a:t>
            </a:r>
            <a:r>
              <a:rPr lang="ko-KR" altLang="en-US" sz="1400" dirty="0"/>
              <a:t>을 구축하여, 도면 기반 설비 정보를 </a:t>
            </a:r>
            <a:r>
              <a:rPr lang="ko-KR" altLang="en-US" sz="1400" dirty="0" err="1"/>
              <a:t>AI로</a:t>
            </a:r>
            <a:r>
              <a:rPr lang="ko-KR" altLang="en-US" sz="1400" dirty="0"/>
              <a:t> 자동 </a:t>
            </a:r>
            <a:r>
              <a:rPr lang="ko-KR" altLang="en-US" sz="1400" dirty="0" err="1"/>
              <a:t>분석·구조화하고</a:t>
            </a:r>
            <a:r>
              <a:rPr lang="ko-KR" altLang="en-US" sz="1400" dirty="0"/>
              <a:t> 검색 및 운영에 활용 가능한 형태로 전환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06EB3-D038-329B-1240-BCDAFFEB4533}"/>
              </a:ext>
            </a:extLst>
          </p:cNvPr>
          <p:cNvSpPr txBox="1"/>
          <p:nvPr/>
        </p:nvSpPr>
        <p:spPr>
          <a:xfrm>
            <a:off x="4120939" y="1634394"/>
            <a:ext cx="337782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사용자 관점 </a:t>
            </a:r>
            <a:endParaRPr lang="en-US" altLang="ko-KR" dirty="0"/>
          </a:p>
          <a:p>
            <a:r>
              <a:rPr lang="ko-KR" altLang="en-US" sz="1400" dirty="0"/>
              <a:t>■ 도면 기반 정보 조회</a:t>
            </a:r>
            <a:br>
              <a:rPr lang="ko-KR" altLang="en-US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도면 내 설비 정보 조회 기능</a:t>
            </a:r>
            <a:br>
              <a:rPr lang="ko-KR" altLang="en-US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설비 태그 기반 위치 및 정보 확인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■ 설비 검색 기능</a:t>
            </a:r>
            <a:br>
              <a:rPr lang="ko-KR" altLang="en-US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설비 태그 기반 검색 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P-101)</a:t>
            </a: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설비 및 계통 정보 조회 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600" dirty="0"/>
              <a:t>엔지니어 관점</a:t>
            </a:r>
            <a:endParaRPr lang="en-US" altLang="ko-KR" sz="1400" dirty="0"/>
          </a:p>
          <a:p>
            <a:r>
              <a:rPr lang="ko-KR" altLang="en-US" sz="1400" dirty="0"/>
              <a:t>■ </a:t>
            </a:r>
            <a:r>
              <a:rPr lang="en-US" altLang="ko-KR" sz="1400" dirty="0"/>
              <a:t>AI </a:t>
            </a:r>
            <a:r>
              <a:rPr lang="ko-KR" altLang="en-US" sz="1400" dirty="0"/>
              <a:t>도면 분석 및 태그 자동화</a:t>
            </a:r>
            <a:br>
              <a:rPr lang="ko-KR" altLang="en-US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도면</a:t>
            </a:r>
            <a:r>
              <a:rPr lang="en-US" altLang="ko-KR" sz="1400" dirty="0"/>
              <a:t>(DWG/PDF) </a:t>
            </a:r>
            <a:r>
              <a:rPr lang="ko-KR" altLang="en-US" sz="1400" dirty="0"/>
              <a:t>기반 설비 정보 분석</a:t>
            </a:r>
            <a:br>
              <a:rPr lang="ko-KR" altLang="en-US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설비 태그 및 주요 객체 추출</a:t>
            </a:r>
            <a:br>
              <a:rPr lang="ko-KR" altLang="en-US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설비 간 기본 연결 관계 도출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■ 설비 정보 구조화 </a:t>
            </a:r>
            <a:r>
              <a:rPr lang="en-US" altLang="ko-KR" sz="1400" dirty="0"/>
              <a:t>(</a:t>
            </a:r>
            <a:r>
              <a:rPr lang="ko-KR" altLang="en-US" sz="1400" dirty="0"/>
              <a:t>지식화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도면 내 설비 및 연결 관계 구조화</a:t>
            </a:r>
            <a:br>
              <a:rPr lang="ko-KR" altLang="en-US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설비 간 관계 기반 정보 조회 지원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4067F-EE8A-E8D4-E09B-7B1458C38E24}"/>
              </a:ext>
            </a:extLst>
          </p:cNvPr>
          <p:cNvSpPr txBox="1"/>
          <p:nvPr/>
        </p:nvSpPr>
        <p:spPr>
          <a:xfrm>
            <a:off x="8645157" y="3280998"/>
            <a:ext cx="32050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- 도면 기반 설비 정보 접근성 향상</a:t>
            </a:r>
          </a:p>
          <a:p>
            <a:r>
              <a:rPr lang="ko-KR" altLang="en-US" sz="1400" dirty="0"/>
              <a:t>- 장애 대응 속도 및 운영 안정성 개선</a:t>
            </a:r>
          </a:p>
          <a:p>
            <a:r>
              <a:rPr lang="ko-KR" altLang="en-US" sz="1400" dirty="0"/>
              <a:t>- 도면 탐색 및 분석 업무 효율화</a:t>
            </a:r>
          </a:p>
          <a:p>
            <a:r>
              <a:rPr lang="ko-KR" altLang="en-US" sz="1400" dirty="0"/>
              <a:t>- 인력 의존 최소화 및 기술 자산화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06FC30C-FF9C-A7E3-B5B4-6E64DA01031B}"/>
              </a:ext>
            </a:extLst>
          </p:cNvPr>
          <p:cNvSpPr/>
          <p:nvPr/>
        </p:nvSpPr>
        <p:spPr>
          <a:xfrm>
            <a:off x="227065" y="4453201"/>
            <a:ext cx="3412123" cy="19729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D9113A5-41EC-827E-7732-656BC0BB2A22}"/>
              </a:ext>
            </a:extLst>
          </p:cNvPr>
          <p:cNvSpPr/>
          <p:nvPr/>
        </p:nvSpPr>
        <p:spPr>
          <a:xfrm>
            <a:off x="4018655" y="949849"/>
            <a:ext cx="3554290" cy="5476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277033-1FA6-963C-1AC7-F65DFC6101C5}"/>
              </a:ext>
            </a:extLst>
          </p:cNvPr>
          <p:cNvSpPr/>
          <p:nvPr/>
        </p:nvSpPr>
        <p:spPr>
          <a:xfrm>
            <a:off x="8470521" y="2709630"/>
            <a:ext cx="3554290" cy="1992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5802E9E6-172F-5986-4F2B-89DEFF3A2AA5}"/>
              </a:ext>
            </a:extLst>
          </p:cNvPr>
          <p:cNvSpPr/>
          <p:nvPr/>
        </p:nvSpPr>
        <p:spPr>
          <a:xfrm>
            <a:off x="7747581" y="3725863"/>
            <a:ext cx="609136" cy="4004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FC019B-8B79-E26E-40B4-806E9C829C2A}"/>
              </a:ext>
            </a:extLst>
          </p:cNvPr>
          <p:cNvSpPr txBox="1"/>
          <p:nvPr/>
        </p:nvSpPr>
        <p:spPr>
          <a:xfrm>
            <a:off x="227065" y="4487509"/>
            <a:ext cx="176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제안개요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45204-5B4E-1318-1DA1-1131EA08B6CF}"/>
              </a:ext>
            </a:extLst>
          </p:cNvPr>
          <p:cNvSpPr txBox="1"/>
          <p:nvPr/>
        </p:nvSpPr>
        <p:spPr>
          <a:xfrm>
            <a:off x="227065" y="976928"/>
            <a:ext cx="176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제안배경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A24F99-6CDC-4768-3493-AF886D5D70CA}"/>
              </a:ext>
            </a:extLst>
          </p:cNvPr>
          <p:cNvSpPr txBox="1"/>
          <p:nvPr/>
        </p:nvSpPr>
        <p:spPr>
          <a:xfrm>
            <a:off x="4048556" y="976928"/>
            <a:ext cx="221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도면관리 주요 기능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12DD1E-4597-87AA-A0D2-4C9FD0FE6BA4}"/>
              </a:ext>
            </a:extLst>
          </p:cNvPr>
          <p:cNvSpPr txBox="1"/>
          <p:nvPr/>
        </p:nvSpPr>
        <p:spPr>
          <a:xfrm>
            <a:off x="8470521" y="2728973"/>
            <a:ext cx="221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기대 효과</a:t>
            </a:r>
          </a:p>
        </p:txBody>
      </p:sp>
    </p:spTree>
    <p:extLst>
      <p:ext uri="{BB962C8B-B14F-4D97-AF65-F5344CB8AC3E}">
        <p14:creationId xmlns:p14="http://schemas.microsoft.com/office/powerpoint/2010/main" val="161334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235</Words>
  <Application>Microsoft Office PowerPoint</Application>
  <PresentationFormat>와이드스크린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김채림(Chae lim Kim)/솔루션기술팀</dc:creator>
  <cp:lastModifiedBy>김채림(Chae lim Kim)/솔루션기술팀</cp:lastModifiedBy>
  <cp:revision>6</cp:revision>
  <dcterms:created xsi:type="dcterms:W3CDTF">2026-03-12T07:25:11Z</dcterms:created>
  <dcterms:modified xsi:type="dcterms:W3CDTF">2026-03-18T23:42:06Z</dcterms:modified>
</cp:coreProperties>
</file>