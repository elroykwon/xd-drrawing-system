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9964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487680" cy="45720"/>
          </a:xfrm>
          <a:prstGeom prst="rect">
            <a:avLst/>
          </a:prstGeom>
          <a:solidFill>
            <a:srgbClr val="0066B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44880" y="6446520"/>
            <a:ext cx="487680" cy="45720"/>
          </a:xfrm>
          <a:prstGeom prst="rect">
            <a:avLst/>
          </a:prstGeom>
          <a:solidFill>
            <a:srgbClr val="1C69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432560" y="6446520"/>
            <a:ext cx="487680" cy="45720"/>
          </a:xfrm>
          <a:prstGeom prst="rect">
            <a:avLst/>
          </a:prstGeom>
          <a:solidFill>
            <a:srgbClr val="E2271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PREVIEW ·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11247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kern="0" spc="12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DKS</a:t>
            </a:r>
            <a:endParaRPr lang="en-US" sz="200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도면 위에 지식을 더하다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공장 · 데이터센터 · 빌딩 설비 운영을 위한 설비 지식 관리 플랫폼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5212080"/>
            <a:ext cx="11247120" cy="0"/>
          </a:xfrm>
          <a:prstGeom prst="line">
            <a:avLst/>
          </a:prstGeom>
          <a:noFill/>
          <a:ln w="9525">
            <a:solidFill>
              <a:srgbClr val="3C3C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5440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00" b="1" kern="0" spc="25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PROPOSAL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설비 지식 관리 플랫폼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0" y="5440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00" b="1" kern="0" spc="25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PILOT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4~8주 · 도면 1~2장 시연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138160" y="54406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00" b="1" kern="0" spc="25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VERSION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2026 Preview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6537960"/>
            <a:ext cx="3749040" cy="54864"/>
          </a:xfrm>
          <a:prstGeom prst="rect">
            <a:avLst/>
          </a:prstGeom>
          <a:solidFill>
            <a:srgbClr val="0066B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206240" y="6537960"/>
            <a:ext cx="3749040" cy="54864"/>
          </a:xfrm>
          <a:prstGeom prst="rect">
            <a:avLst/>
          </a:prstGeom>
          <a:solidFill>
            <a:srgbClr val="1C69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7955280" y="6537960"/>
            <a:ext cx="3749040" cy="54864"/>
          </a:xfrm>
          <a:prstGeom prst="rect">
            <a:avLst/>
          </a:prstGeom>
          <a:solidFill>
            <a:srgbClr val="E22718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DKS</a:t>
            </a:r>
            <a:r>
              <a:rPr lang="en-US" sz="900" kern="0" spc="10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|  도면지식관리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6446520"/>
            <a:ext cx="487680" cy="45720"/>
          </a:xfrm>
          <a:prstGeom prst="rect">
            <a:avLst/>
          </a:prstGeom>
          <a:solidFill>
            <a:srgbClr val="0066B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44880" y="6446520"/>
            <a:ext cx="487680" cy="45720"/>
          </a:xfrm>
          <a:prstGeom prst="rect">
            <a:avLst/>
          </a:prstGeom>
          <a:solidFill>
            <a:srgbClr val="1C69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432560" y="6446520"/>
            <a:ext cx="487680" cy="45720"/>
          </a:xfrm>
          <a:prstGeom prst="rect">
            <a:avLst/>
          </a:prstGeom>
          <a:solidFill>
            <a:srgbClr val="E2271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97280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P. 02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01 · PROBLEM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지금 이 문제, 익숙하지 않으신가요?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6E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현장에서 반복되는 5가지 패턴 — 어디까지 공감하시나요?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69D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2880360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도면은 있는데, 최신인지 모른다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3410712"/>
            <a:ext cx="11247120" cy="0"/>
          </a:xfrm>
          <a:prstGeom prst="line">
            <a:avLst/>
          </a:prstGeom>
          <a:noFill/>
          <a:ln w="9525">
            <a:solidFill>
              <a:srgbClr val="3C3C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57200" y="3447288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69D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3447288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설비를 바꿨는데, 누가 영향받는지 모른다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11247120" cy="0"/>
          </a:xfrm>
          <a:prstGeom prst="line">
            <a:avLst/>
          </a:prstGeom>
          <a:noFill/>
          <a:ln w="9525">
            <a:solidFill>
              <a:srgbClr val="3C3C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57200" y="4014216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69D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4014216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매주 같은 보고서를 처음부터 다시 쓴다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" y="4544568"/>
            <a:ext cx="11247120" cy="0"/>
          </a:xfrm>
          <a:prstGeom prst="line">
            <a:avLst/>
          </a:prstGeom>
          <a:noFill/>
          <a:ln w="9525">
            <a:solidFill>
              <a:srgbClr val="3C3C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57200" y="4581144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69D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71600" y="4581144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낯선 알람이 울려도 30초 안에 파악이 안 된다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57200" y="5111496"/>
            <a:ext cx="11247120" cy="0"/>
          </a:xfrm>
          <a:prstGeom prst="line">
            <a:avLst/>
          </a:prstGeom>
          <a:noFill/>
          <a:ln w="9525">
            <a:solidFill>
              <a:srgbClr val="3C3C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57200" y="5148072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69D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0" y="5148072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챗봇에게 물어봤더니, 우리 현장을 몰랐다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57200" y="5678424"/>
            <a:ext cx="11247120" cy="0"/>
          </a:xfrm>
          <a:prstGeom prst="line">
            <a:avLst/>
          </a:prstGeom>
          <a:noFill/>
          <a:ln w="9525">
            <a:solidFill>
              <a:srgbClr val="3C3C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57200" y="2843784"/>
            <a:ext cx="11247120" cy="0"/>
          </a:xfrm>
          <a:prstGeom prst="line">
            <a:avLst/>
          </a:prstGeom>
          <a:noFill/>
          <a:ln w="9525">
            <a:solidFill>
              <a:srgbClr val="3C3C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57200" y="612648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DKS PROPOSAL  ·  01 PROBLEM  ·  현장 패턴 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DKS</a:t>
            </a:r>
            <a:r>
              <a:rPr lang="en-US" sz="900" kern="0" spc="10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|  도면지식관리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6446520"/>
            <a:ext cx="487680" cy="45720"/>
          </a:xfrm>
          <a:prstGeom prst="rect">
            <a:avLst/>
          </a:prstGeom>
          <a:solidFill>
            <a:srgbClr val="0066B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44880" y="6446520"/>
            <a:ext cx="487680" cy="45720"/>
          </a:xfrm>
          <a:prstGeom prst="rect">
            <a:avLst/>
          </a:prstGeom>
          <a:solidFill>
            <a:srgbClr val="1C69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432560" y="6446520"/>
            <a:ext cx="487680" cy="45720"/>
          </a:xfrm>
          <a:prstGeom prst="rect">
            <a:avLst/>
          </a:prstGeom>
          <a:solidFill>
            <a:srgbClr val="E2271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97280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P. 03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02 · MARKET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기존 도구들이 해결 못 하는 이유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6E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각 도구는 역할이 있지만, 연결되지 않는 공백이 남아 있다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5148" y="2880360"/>
            <a:ext cx="2697480" cy="31546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23748" y="3154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EDMS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23748" y="3657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69D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문서관리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3748" y="4069080"/>
            <a:ext cx="2240280" cy="0"/>
          </a:xfrm>
          <a:prstGeom prst="line">
            <a:avLst/>
          </a:prstGeom>
          <a:noFill/>
          <a:ln w="9525">
            <a:solidFill>
              <a:srgbClr val="3C3C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23748" y="42062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잘하는 것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23748" y="4434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E6E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파일 저장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23748" y="49377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2271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연결되지 않는 공백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23748" y="51663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도면의 "의미"를 모름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29788" y="2880360"/>
            <a:ext cx="2697480" cy="31546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558388" y="3154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CMMS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558388" y="3657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69D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설비관리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558388" y="4069080"/>
            <a:ext cx="2240280" cy="0"/>
          </a:xfrm>
          <a:prstGeom prst="line">
            <a:avLst/>
          </a:prstGeom>
          <a:noFill/>
          <a:ln w="9525">
            <a:solidFill>
              <a:srgbClr val="3C3C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558388" y="42062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잘하는 것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58388" y="4434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E6E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이력 관리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58388" y="49377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2271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연결되지 않는 공백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58388" y="51663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설비 간 "관계"를 모름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64428" y="2880360"/>
            <a:ext cx="2697480" cy="31546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393028" y="3154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FMS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393028" y="3657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69D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통합시설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93028" y="4069080"/>
            <a:ext cx="2240280" cy="0"/>
          </a:xfrm>
          <a:prstGeom prst="line">
            <a:avLst/>
          </a:prstGeom>
          <a:noFill/>
          <a:ln w="9525">
            <a:solidFill>
              <a:srgbClr val="3C3C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393028" y="42062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잘하는 것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93028" y="4434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E6E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통합 관리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93028" y="49377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2271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연결되지 않는 공백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93028" y="51663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구축 6~18개월, 비용 폭증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999068" y="2880360"/>
            <a:ext cx="2697480" cy="31546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9227668" y="3154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9227668" y="3657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69D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범용 챗봇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227668" y="4069080"/>
            <a:ext cx="2240280" cy="0"/>
          </a:xfrm>
          <a:prstGeom prst="line">
            <a:avLst/>
          </a:prstGeom>
          <a:noFill/>
          <a:ln w="9525">
            <a:solidFill>
              <a:srgbClr val="3C3C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9227668" y="42062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잘하는 것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227668" y="4434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E6E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방대한 지식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227668" y="49377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2271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연결되지 않는 공백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227668" y="51663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현장 맥락 없어 신뢰 불가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57200" y="612648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DKS PROPOSAL  ·  02 MARKET  ·  기존 도구의 공백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DKS</a:t>
            </a:r>
            <a:r>
              <a:rPr lang="en-US" sz="900" kern="0" spc="10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|  도면지식관리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6446520"/>
            <a:ext cx="487680" cy="45720"/>
          </a:xfrm>
          <a:prstGeom prst="rect">
            <a:avLst/>
          </a:prstGeom>
          <a:solidFill>
            <a:srgbClr val="0066B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44880" y="6446520"/>
            <a:ext cx="487680" cy="45720"/>
          </a:xfrm>
          <a:prstGeom prst="rect">
            <a:avLst/>
          </a:prstGeom>
          <a:solidFill>
            <a:srgbClr val="1C69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432560" y="6446520"/>
            <a:ext cx="487680" cy="45720"/>
          </a:xfrm>
          <a:prstGeom prst="rect">
            <a:avLst/>
          </a:prstGeom>
          <a:solidFill>
            <a:srgbClr val="E2271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97280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P. 04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03 · POSITIONING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DKS는 기존 시스템을 교체하지 않습니다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6E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기존 시스템 위에 맥락 레이어를 더한다 — 파일럿 기준 4~8주 안에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5168" y="2926080"/>
            <a:ext cx="3383280" cy="13716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55168" y="2926080"/>
            <a:ext cx="54864" cy="1371600"/>
          </a:xfrm>
          <a:prstGeom prst="rect">
            <a:avLst/>
          </a:prstGeom>
          <a:solidFill>
            <a:srgbClr val="0066B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29488" y="3108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INPUT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29488" y="34747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도면 (PDF)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038448" y="2926080"/>
            <a:ext cx="365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404208" y="2926080"/>
            <a:ext cx="3383280" cy="13716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404208" y="2926080"/>
            <a:ext cx="54864" cy="1371600"/>
          </a:xfrm>
          <a:prstGeom prst="rect">
            <a:avLst/>
          </a:prstGeom>
          <a:solidFill>
            <a:srgbClr val="1C69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678528" y="3108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PROCESS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78528" y="34747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설비 지식 그래프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787488" y="2926080"/>
            <a:ext cx="365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153248" y="2926080"/>
            <a:ext cx="3383280" cy="13716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8153248" y="2926080"/>
            <a:ext cx="54864" cy="1371600"/>
          </a:xfrm>
          <a:prstGeom prst="rect">
            <a:avLst/>
          </a:prstGeom>
          <a:solidFill>
            <a:srgbClr val="E2271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427568" y="3108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OUTPUT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27568" y="34747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현장 맥락을 가진 AI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55168" y="4846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관계 자동 파악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5168" y="52120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설비 간 연결을 그래프로 구조화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04208" y="4846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변경 영향 추적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04208" y="52120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수정 시 영향 범위를 즉시 시각화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53248" y="4846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현장형 AI 대화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53248" y="52120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도면·이력 기반으로 답변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12648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DKS PROPOSAL  ·  03 POSITIONING  ·  맥락 레이어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DKS</a:t>
            </a:r>
            <a:r>
              <a:rPr lang="en-US" sz="900" kern="0" spc="10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|  도면지식관리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6446520"/>
            <a:ext cx="487680" cy="45720"/>
          </a:xfrm>
          <a:prstGeom prst="rect">
            <a:avLst/>
          </a:prstGeom>
          <a:solidFill>
            <a:srgbClr val="0066B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44880" y="6446520"/>
            <a:ext cx="487680" cy="45720"/>
          </a:xfrm>
          <a:prstGeom prst="rect">
            <a:avLst/>
          </a:prstGeom>
          <a:solidFill>
            <a:srgbClr val="1C69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432560" y="6446520"/>
            <a:ext cx="487680" cy="45720"/>
          </a:xfrm>
          <a:prstGeom prst="rect">
            <a:avLst/>
          </a:prstGeom>
          <a:solidFill>
            <a:srgbClr val="E2271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97280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P. 05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 · HOW IT WORKS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도면 PDF에서 설비 지식 그래프까지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6E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기존 도면 위에 AI 분석을 더해 지식 그래프로 구조화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C69D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Step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1729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도면 업로드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기존 PDF 도면 그대로 — 별도 변환 없음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5486400" cy="0"/>
          </a:xfrm>
          <a:prstGeom prst="line">
            <a:avLst/>
          </a:prstGeom>
          <a:noFill/>
          <a:ln w="9525">
            <a:solidFill>
              <a:srgbClr val="3C3C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" y="3886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C69D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Step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1330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자동 분석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4480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설비명·연결관계·태그 자동 추출 / 구조화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754880"/>
            <a:ext cx="5486400" cy="0"/>
          </a:xfrm>
          <a:prstGeom prst="line">
            <a:avLst/>
          </a:prstGeom>
          <a:noFill/>
          <a:ln w="9525">
            <a:solidFill>
              <a:srgbClr val="3C3C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57200" y="4846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C69D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Step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50932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지식 그래프 완성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5440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검색·인사이트·AI 대화의 공통 기반</a:t>
            </a:r>
            <a:endParaRPr lang="en-US" sz="1200" dirty="0"/>
          </a:p>
        </p:txBody>
      </p:sp>
      <p:pic>
        <p:nvPicPr>
          <p:cNvPr id="21" name="Image 0" descr="assets/il-lab-bundl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0" y="640080"/>
            <a:ext cx="5790895" cy="54864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400800" y="6172200"/>
            <a:ext cx="5790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실제 도면에서 추출된 설비·통계 화면 (목업)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PILOT 인식 범위</a:t>
            </a:r>
            <a:endParaRPr lang="en-US" sz="900" dirty="0"/>
          </a:p>
          <a:p>
            <a:pPr marL="0" indent="0">
              <a:buNone/>
            </a:pPr>
            <a:r>
              <a:rPr lang="en-US" sz="1100" dirty="0">
                <a:solidFill>
                  <a:srgbClr val="E6E6E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기계 90+ · 전기 280+ 종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DKS</a:t>
            </a:r>
            <a:r>
              <a:rPr lang="en-US" sz="900" kern="0" spc="10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|  도면지식관리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6446520"/>
            <a:ext cx="487680" cy="45720"/>
          </a:xfrm>
          <a:prstGeom prst="rect">
            <a:avLst/>
          </a:prstGeom>
          <a:solidFill>
            <a:srgbClr val="0066B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44880" y="6446520"/>
            <a:ext cx="487680" cy="45720"/>
          </a:xfrm>
          <a:prstGeom prst="rect">
            <a:avLst/>
          </a:prstGeom>
          <a:solidFill>
            <a:srgbClr val="1C69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432560" y="6446520"/>
            <a:ext cx="487680" cy="45720"/>
          </a:xfrm>
          <a:prstGeom prst="rect">
            <a:avLst/>
          </a:prstGeom>
          <a:solidFill>
            <a:srgbClr val="E2271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97280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P. 06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05 · INSIGHT LAB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INSIGHT LAB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6E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운영 현장의 질문에 즉시 답하다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044952"/>
            <a:ext cx="109728" cy="109728"/>
          </a:xfrm>
          <a:prstGeom prst="rect">
            <a:avLst/>
          </a:prstGeom>
          <a:solidFill>
            <a:srgbClr val="1C69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13232" y="28803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알람 자동 연결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" y="32278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관련 설비·이력을 30초 이내 파악(목표)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76472"/>
            <a:ext cx="109728" cy="109728"/>
          </a:xfrm>
          <a:prstGeom prst="rect">
            <a:avLst/>
          </a:prstGeom>
          <a:solidFill>
            <a:srgbClr val="1C69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13232" y="3611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보고서 초안 생성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3232" y="39593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AI가 초안 작성 → 담당자가 검토·수정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507992"/>
            <a:ext cx="109728" cy="109728"/>
          </a:xfrm>
          <a:prstGeom prst="rect">
            <a:avLst/>
          </a:prstGeom>
          <a:solidFill>
            <a:srgbClr val="1C69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13232" y="43434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현장 맥락 AI 대화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3232" y="469087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도면·이력 기반 답변, 출처 표시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5239512"/>
            <a:ext cx="109728" cy="109728"/>
          </a:xfrm>
          <a:prstGeom prst="rect">
            <a:avLst/>
          </a:prstGeom>
          <a:solidFill>
            <a:srgbClr val="1C69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13232" y="5074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근본원인 그래프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3232" y="542239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연쇄 영향을 시각적으로 추적</a:t>
            </a:r>
            <a:endParaRPr lang="en-US" sz="1200" dirty="0"/>
          </a:p>
        </p:txBody>
      </p:sp>
      <p:pic>
        <p:nvPicPr>
          <p:cNvPr id="22" name="Image 0" descr="assets/il-hub-ful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0" y="640080"/>
            <a:ext cx="5790895" cy="54864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400800" y="6172200"/>
            <a:ext cx="5790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Insight Lab — 알람 / 질문 / 보고서 통합 허브 (목업)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5720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PROGRESS</a:t>
            </a:r>
            <a:endParaRPr lang="en-US" sz="900" dirty="0"/>
          </a:p>
          <a:p>
            <a:pPr marL="0" indent="0">
              <a:buNone/>
            </a:pPr>
            <a:r>
              <a:rPr lang="en-US" sz="1100" dirty="0">
                <a:solidFill>
                  <a:srgbClr val="E6E6E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파일럿 환경 검증 중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DKS</a:t>
            </a:r>
            <a:r>
              <a:rPr lang="en-US" sz="900" kern="0" spc="10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|  도면지식관리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6446520"/>
            <a:ext cx="487680" cy="45720"/>
          </a:xfrm>
          <a:prstGeom prst="rect">
            <a:avLst/>
          </a:prstGeom>
          <a:solidFill>
            <a:srgbClr val="0066B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44880" y="6446520"/>
            <a:ext cx="487680" cy="45720"/>
          </a:xfrm>
          <a:prstGeom prst="rect">
            <a:avLst/>
          </a:prstGeom>
          <a:solidFill>
            <a:srgbClr val="1C69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432560" y="6446520"/>
            <a:ext cx="487680" cy="45720"/>
          </a:xfrm>
          <a:prstGeom prst="rect">
            <a:avLst/>
          </a:prstGeom>
          <a:solidFill>
            <a:srgbClr val="E2271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97280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P. 07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05 · INSIGHT LAB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화면으로 보기 — 알람 컨텍스트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6E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알람 발생 즉시 관련 설비 정보·임계값·출처가 한 화면에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5852160" cy="32461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assets/il-alarms-draw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2880360"/>
            <a:ext cx="5669280" cy="30632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492240" y="2788920"/>
            <a:ext cx="5242255" cy="32461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assets/il-lab-bundl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83680" y="2880360"/>
            <a:ext cx="5059375" cy="3063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" y="60807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C69D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01</a:t>
            </a: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알람 드로어</a:t>
            </a:r>
            <a:r>
              <a:rPr lang="en-US" sz="10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·  설비 태그 · 현재값 · 임계값 · 출처가 즉시 펼쳐진다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92240" y="6080760"/>
            <a:ext cx="5242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C69D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02</a:t>
            </a: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통계 × 온톨로지 번들</a:t>
            </a:r>
            <a:r>
              <a:rPr lang="en-US" sz="10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·  이상 이벤트 + 관계 그래프 → 근본원인 후보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DKS</a:t>
            </a:r>
            <a:r>
              <a:rPr lang="en-US" sz="900" kern="0" spc="10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|  도면지식관리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6446520"/>
            <a:ext cx="487680" cy="45720"/>
          </a:xfrm>
          <a:prstGeom prst="rect">
            <a:avLst/>
          </a:prstGeom>
          <a:solidFill>
            <a:srgbClr val="0066B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44880" y="6446520"/>
            <a:ext cx="487680" cy="45720"/>
          </a:xfrm>
          <a:prstGeom prst="rect">
            <a:avLst/>
          </a:prstGeom>
          <a:solidFill>
            <a:srgbClr val="1C69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432560" y="6446520"/>
            <a:ext cx="487680" cy="45720"/>
          </a:xfrm>
          <a:prstGeom prst="rect">
            <a:avLst/>
          </a:prstGeom>
          <a:solidFill>
            <a:srgbClr val="E2271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97280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P. 08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06 · DESIGN LAB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DESIGN LAB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6E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도면을 파일이 아닌 지식으로 관리하다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044952"/>
            <a:ext cx="109728" cy="109728"/>
          </a:xfrm>
          <a:prstGeom prst="rect">
            <a:avLst/>
          </a:prstGeom>
          <a:solidFill>
            <a:srgbClr val="1C69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13232" y="28803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도면별 자동 메타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" y="32278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설비 태그·목적·요약을 AI가 추출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58184"/>
            <a:ext cx="109728" cy="109728"/>
          </a:xfrm>
          <a:prstGeom prst="rect">
            <a:avLst/>
          </a:prstGeom>
          <a:solidFill>
            <a:srgbClr val="1C69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13232" y="359359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필터 기반 탐색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3232" y="394106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공종·태그·키워드로 즉시 정렬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471416"/>
            <a:ext cx="109728" cy="109728"/>
          </a:xfrm>
          <a:prstGeom prst="rect">
            <a:avLst/>
          </a:prstGeom>
          <a:solidFill>
            <a:srgbClr val="1C69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13232" y="430682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도면 컨텍스트 대화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3232" y="465429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도면을 띄운 상태에서 AI에게 직접 질문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5212080"/>
            <a:ext cx="5486400" cy="7772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57200" y="5212080"/>
            <a:ext cx="54864" cy="777240"/>
          </a:xfrm>
          <a:prstGeom prst="rect">
            <a:avLst/>
          </a:prstGeom>
          <a:solidFill>
            <a:srgbClr val="E2271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40080" y="528523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800" b="1" kern="0" spc="20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EXAMPLE QUERY</a:t>
            </a:r>
            <a:endParaRPr lang="en-US" sz="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"이 계통도에서 냉각수 펌프의 백업 경로는?"</a:t>
            </a:r>
            <a:endParaRPr lang="en-US" sz="800" dirty="0"/>
          </a:p>
        </p:txBody>
      </p:sp>
      <p:pic>
        <p:nvPicPr>
          <p:cNvPr id="22" name="Image 0" descr="assets/dl-cards-ful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0" y="640080"/>
            <a:ext cx="5790895" cy="54864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400800" y="6172200"/>
            <a:ext cx="5790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Design Lab — 도면 라이브러리 카드 그리드 (목업)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5720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DOMAIN</a:t>
            </a:r>
            <a:endParaRPr lang="en-US" sz="900" dirty="0"/>
          </a:p>
          <a:p>
            <a:pPr marL="0" indent="0">
              <a:buNone/>
            </a:pPr>
            <a:r>
              <a:rPr lang="en-US" sz="1100" dirty="0">
                <a:solidFill>
                  <a:srgbClr val="E6E6E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전기 17 · 기계 3 · 소방 4 · 시설 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DKS</a:t>
            </a:r>
            <a:r>
              <a:rPr lang="en-US" sz="900" kern="0" spc="10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|  도면지식관리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6446520"/>
            <a:ext cx="487680" cy="45720"/>
          </a:xfrm>
          <a:prstGeom prst="rect">
            <a:avLst/>
          </a:prstGeom>
          <a:solidFill>
            <a:srgbClr val="0066B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44880" y="6446520"/>
            <a:ext cx="487680" cy="45720"/>
          </a:xfrm>
          <a:prstGeom prst="rect">
            <a:avLst/>
          </a:prstGeom>
          <a:solidFill>
            <a:srgbClr val="1C69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432560" y="6446520"/>
            <a:ext cx="487680" cy="45720"/>
          </a:xfrm>
          <a:prstGeom prst="rect">
            <a:avLst/>
          </a:prstGeom>
          <a:solidFill>
            <a:srgbClr val="E2271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97280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P. 09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06 · DESIGN LAB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화면으로 보기 — 카드와 챗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6E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도면 카드의 온톨로지 탭, 그리고 도면을 띄운 상태의 챗 워크스페이스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5577840" cy="32461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assets/dl-cards-tab-ontolog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2880360"/>
            <a:ext cx="5394960" cy="30632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156655" y="2788920"/>
            <a:ext cx="5577840" cy="32461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assets/dl-chat-drawing-mod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48095" y="2880360"/>
            <a:ext cx="5394960" cy="3063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" y="60807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C69D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01</a:t>
            </a: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도면 카드 · 온톨로지 탭</a:t>
            </a:r>
            <a:r>
              <a:rPr lang="en-US" sz="10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·  도면 안 설비 구조 한눈에 — 동급/하류/상류 관계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156655" y="60807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C69D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02</a:t>
            </a: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도면 챗 워크스페이스</a:t>
            </a:r>
            <a:r>
              <a:rPr lang="en-US" sz="10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·  도면을 띄운 상태에서 AI에게 질문 — 인용·태그 누적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DKS</a:t>
            </a:r>
            <a:r>
              <a:rPr lang="en-US" sz="900" kern="0" spc="10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|  도면지식관리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6446520"/>
            <a:ext cx="487680" cy="45720"/>
          </a:xfrm>
          <a:prstGeom prst="rect">
            <a:avLst/>
          </a:prstGeom>
          <a:solidFill>
            <a:srgbClr val="0066B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44880" y="6446520"/>
            <a:ext cx="487680" cy="45720"/>
          </a:xfrm>
          <a:prstGeom prst="rect">
            <a:avLst/>
          </a:prstGeom>
          <a:solidFill>
            <a:srgbClr val="1C69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432560" y="6446520"/>
            <a:ext cx="487680" cy="45720"/>
          </a:xfrm>
          <a:prstGeom prst="rect">
            <a:avLst/>
          </a:prstGeom>
          <a:solidFill>
            <a:srgbClr val="E2271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97280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P. 10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07 · PILOT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파일럿 기준 4~8주로 시작하는 방법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6E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별도 인프라 구축 없음 · 기존 시스템 교체 없음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3708" y="2880360"/>
            <a:ext cx="3703320" cy="24688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03708" y="2880360"/>
            <a:ext cx="3703320" cy="54864"/>
          </a:xfrm>
          <a:prstGeom prst="rect">
            <a:avLst/>
          </a:prstGeom>
          <a:solidFill>
            <a:srgbClr val="0066B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78028" y="31089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PHASE 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8028" y="33832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Week 1–2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78028" y="40233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6E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도면 업로드 / 그래프 초안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8028" y="44348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기존 PDF 도면을 업로드하고 설비 지식 그래프 초안을 자동 생성합니다.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44188" y="2880360"/>
            <a:ext cx="3703320" cy="24688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244188" y="2880360"/>
            <a:ext cx="3703320" cy="54864"/>
          </a:xfrm>
          <a:prstGeom prst="rect">
            <a:avLst/>
          </a:prstGeom>
          <a:solidFill>
            <a:srgbClr val="1C69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518508" y="31089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PHASE 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18508" y="33832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Week 3–4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518508" y="40233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6E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핵심 시나리오 검증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18508" y="44348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현장 담당자와 함께 알람 컨텍스트·보고서 초안 등 핵심 시나리오를 검증합니다.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84668" y="2880360"/>
            <a:ext cx="3703320" cy="24688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084668" y="2880360"/>
            <a:ext cx="3703320" cy="54864"/>
          </a:xfrm>
          <a:prstGeom prst="rect">
            <a:avLst/>
          </a:prstGeom>
          <a:solidFill>
            <a:srgbClr val="E2271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358988" y="31089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PHASE 03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58988" y="33832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Week 5–8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358988" y="40233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6E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피드백 반영 / 결정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58988" y="44348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피드백을 반영하고, 전사 확장 또는 집중 영역 결정을 고객이 직접 합니다.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E6E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파일럿 종료 후 도입 여부는 고객이 결정합니다.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DKS</a:t>
            </a:r>
            <a:r>
              <a:rPr lang="en-US" sz="900" kern="0" spc="10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|  도면지식관리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6446520"/>
            <a:ext cx="487680" cy="45720"/>
          </a:xfrm>
          <a:prstGeom prst="rect">
            <a:avLst/>
          </a:prstGeom>
          <a:solidFill>
            <a:srgbClr val="0066B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44880" y="6446520"/>
            <a:ext cx="487680" cy="45720"/>
          </a:xfrm>
          <a:prstGeom prst="rect">
            <a:avLst/>
          </a:prstGeom>
          <a:solidFill>
            <a:srgbClr val="1C69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432560" y="6446520"/>
            <a:ext cx="487680" cy="45720"/>
          </a:xfrm>
          <a:prstGeom prst="rect">
            <a:avLst/>
          </a:prstGeom>
          <a:solidFill>
            <a:srgbClr val="E2271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97280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P. 11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08 · FIT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이런 환경이라면 파일럿에 적합합니다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6E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3개 이상 해당하면 — 파일럿 논의 가치 있습니다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999232"/>
            <a:ext cx="292608" cy="292608"/>
          </a:xfrm>
          <a:prstGeom prst="rect">
            <a:avLst/>
          </a:prstGeom>
          <a:solidFill>
            <a:srgbClr val="000000"/>
          </a:solidFill>
          <a:ln w="15875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97280" y="2880360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PDF 또는 CAD 도면이 100장 이상 있다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10712"/>
            <a:ext cx="11247120" cy="0"/>
          </a:xfrm>
          <a:prstGeom prst="line">
            <a:avLst/>
          </a:prstGeom>
          <a:noFill/>
          <a:ln w="9525">
            <a:solidFill>
              <a:srgbClr val="3C3C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40080" y="3547872"/>
            <a:ext cx="292608" cy="292608"/>
          </a:xfrm>
          <a:prstGeom prst="rect">
            <a:avLst/>
          </a:prstGeom>
          <a:solidFill>
            <a:srgbClr val="000000"/>
          </a:solidFill>
          <a:ln w="15875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97280" y="3429000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설비 변경 이력을 체계적으로 추적하지 못하고 있다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959352"/>
            <a:ext cx="11247120" cy="0"/>
          </a:xfrm>
          <a:prstGeom prst="line">
            <a:avLst/>
          </a:prstGeom>
          <a:noFill/>
          <a:ln w="9525">
            <a:solidFill>
              <a:srgbClr val="3C3C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40080" y="4096512"/>
            <a:ext cx="292608" cy="292608"/>
          </a:xfrm>
          <a:prstGeom prst="rect">
            <a:avLst/>
          </a:prstGeom>
          <a:solidFill>
            <a:srgbClr val="000000"/>
          </a:solidFill>
          <a:ln w="15875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97280" y="3977640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현장 담당자가 알람·보고서에 반복적으로 시간을 쓴다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4507992"/>
            <a:ext cx="11247120" cy="0"/>
          </a:xfrm>
          <a:prstGeom prst="line">
            <a:avLst/>
          </a:prstGeom>
          <a:noFill/>
          <a:ln w="9525">
            <a:solidFill>
              <a:srgbClr val="3C3C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40080" y="4645152"/>
            <a:ext cx="292608" cy="292608"/>
          </a:xfrm>
          <a:prstGeom prst="rect">
            <a:avLst/>
          </a:prstGeom>
          <a:solidFill>
            <a:srgbClr val="000000"/>
          </a:solidFill>
          <a:ln w="15875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097280" y="4526280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기존 시스템에 도면은 있지만 "의미"는 없다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5056632"/>
            <a:ext cx="11247120" cy="0"/>
          </a:xfrm>
          <a:prstGeom prst="line">
            <a:avLst/>
          </a:prstGeom>
          <a:noFill/>
          <a:ln w="9525">
            <a:solidFill>
              <a:srgbClr val="3C3C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40080" y="5193792"/>
            <a:ext cx="292608" cy="292608"/>
          </a:xfrm>
          <a:prstGeom prst="rect">
            <a:avLst/>
          </a:prstGeom>
          <a:solidFill>
            <a:srgbClr val="000000"/>
          </a:solidFill>
          <a:ln w="15875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097280" y="5074920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AI를 도입하고 싶지만 현장 맥락 없는 AI가 걱정이다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612648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DKS PROPOSAL  ·  08 FIT  ·  체크 5항목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DKS</a:t>
            </a:r>
            <a:r>
              <a:rPr lang="en-US" sz="900" kern="0" spc="10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|  도면지식관리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6446520"/>
            <a:ext cx="487680" cy="45720"/>
          </a:xfrm>
          <a:prstGeom prst="rect">
            <a:avLst/>
          </a:prstGeom>
          <a:solidFill>
            <a:srgbClr val="0066B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44880" y="6446520"/>
            <a:ext cx="487680" cy="45720"/>
          </a:xfrm>
          <a:prstGeom prst="rect">
            <a:avLst/>
          </a:prstGeom>
          <a:solidFill>
            <a:srgbClr val="1C69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432560" y="6446520"/>
            <a:ext cx="487680" cy="45720"/>
          </a:xfrm>
          <a:prstGeom prst="rect">
            <a:avLst/>
          </a:prstGeom>
          <a:solidFill>
            <a:srgbClr val="E2271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09 · NEXT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kern="0" spc="6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E6E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다음 미팅에서 함께 확인할 수 있습니다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11247120" cy="0"/>
          </a:xfrm>
          <a:prstGeom prst="line">
            <a:avLst/>
          </a:prstGeom>
          <a:noFill/>
          <a:ln w="9525">
            <a:solidFill>
              <a:srgbClr val="3C3C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72288" y="3520440"/>
            <a:ext cx="457200" cy="36576"/>
          </a:xfrm>
          <a:prstGeom prst="rect">
            <a:avLst/>
          </a:prstGeom>
          <a:solidFill>
            <a:srgbClr val="0066B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72288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DEMO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2288" y="41148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귀사 도면 1~2장으로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설비 지식 그래프 추출 시연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67048" y="3520440"/>
            <a:ext cx="457200" cy="36576"/>
          </a:xfrm>
          <a:prstGeom prst="rect">
            <a:avLst/>
          </a:prstGeom>
          <a:solidFill>
            <a:srgbClr val="1C69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267048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SCENARIO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67048" y="41148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귀사 현장 시나리오에 맞춘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핵심 기능 확인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61808" y="3520440"/>
            <a:ext cx="457200" cy="36576"/>
          </a:xfrm>
          <a:prstGeom prst="rect">
            <a:avLst/>
          </a:prstGeom>
          <a:solidFill>
            <a:srgbClr val="E2271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061808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PILOT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61808" y="41148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파일럿 범위·일정·조건을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함께 논의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5349240"/>
            <a:ext cx="11247120" cy="7772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31520" y="54406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900" b="1" kern="0" spc="250" dirty="0">
                <a:solidFill>
                  <a:srgbClr val="7E7E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CONTACT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6E6E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[담당자명]   ·   [이메일]   ·   [전화]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6537960"/>
            <a:ext cx="3749040" cy="54864"/>
          </a:xfrm>
          <a:prstGeom prst="rect">
            <a:avLst/>
          </a:prstGeom>
          <a:solidFill>
            <a:srgbClr val="0066B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206240" y="6537960"/>
            <a:ext cx="3749040" cy="54864"/>
          </a:xfrm>
          <a:prstGeom prst="rect">
            <a:avLst/>
          </a:prstGeom>
          <a:solidFill>
            <a:srgbClr val="1C69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955280" y="6537960"/>
            <a:ext cx="3749040" cy="54864"/>
          </a:xfrm>
          <a:prstGeom prst="rect">
            <a:avLst/>
          </a:prstGeom>
          <a:solidFill>
            <a:srgbClr val="E22718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893</Words>
  <Application>Microsoft Office PowerPoint</Application>
  <PresentationFormat>와이드스크린</PresentationFormat>
  <Paragraphs>196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NanumGothic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DKS — 도면 위에 지식을 더하다</dc:title>
  <dc:subject>PptxGenJS Presentation</dc:subject>
  <dc:creator>LS Sauta</dc:creator>
  <cp:lastModifiedBy>개혁 이</cp:lastModifiedBy>
  <cp:revision>1</cp:revision>
  <dcterms:created xsi:type="dcterms:W3CDTF">2026-05-03T08:22:20Z</dcterms:created>
  <dcterms:modified xsi:type="dcterms:W3CDTF">2026-05-03T08:25:24Z</dcterms:modified>
</cp:coreProperties>
</file>